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E4D2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1645920"/>
            <a:ext cx="1005840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300" b="1">
                <a:solidFill>
                  <a:srgbClr val="D4A017"/>
                </a:solidFill>
              </a:defRPr>
            </a:pPr>
            <a:r>
              <a:t>DE LA SALLE UNIVERSITY  •  COLLEGE OF COMPUTER STUDIES</a:t>
            </a:r>
          </a:p>
          <a:p>
            <a:pPr>
              <a:defRPr sz="2000">
                <a:solidFill>
                  <a:srgbClr val="FFFFFF"/>
                </a:solidFill>
              </a:defRPr>
            </a:pPr>
            <a:r>
              <a:t>CSC611M: Machine Project 1</a:t>
            </a:r>
          </a:p>
          <a:p>
            <a:pPr>
              <a:defRPr sz="4000" b="1">
                <a:solidFill>
                  <a:srgbClr val="FFFFFF"/>
                </a:solidFill>
              </a:defRPr>
            </a:pPr>
            <a:r>
              <a:t>High-Throughput Parallel OCR Pipeline</a:t>
            </a:r>
          </a:p>
          <a:p>
            <a:pPr>
              <a:defRPr sz="1600">
                <a:solidFill>
                  <a:srgbClr val="C8E6D2"/>
                </a:solidFill>
              </a:defRPr>
            </a:pPr>
            <a:r>
              <a:t>A Multi-Process Architecture with Synchronized Resource Protection &amp; Dynamic Scheduling</a:t>
            </a:r>
          </a:p>
          <a:p>
            <a:br/>
            <a:pPr>
              <a:defRPr sz="1300">
                <a:solidFill>
                  <a:srgbClr val="FFFFFF"/>
                </a:solidFill>
              </a:defRPr>
            </a:pPr>
            <a:r>
              <a:t>Deliverable Report &amp; Performance Analysis  |  Term 1, AY 2026-2027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824C"/>
                </a:solidFill>
              </a:defRPr>
            </a:pPr>
            <a:r>
              <a:t>CSC611M | MACHINE PROJECT 1</a:t>
            </a:r>
          </a:p>
          <a:p>
            <a:pPr>
              <a:defRPr sz="2400" b="1">
                <a:solidFill>
                  <a:srgbClr val="212B36"/>
                </a:solidFill>
              </a:defRPr>
            </a:pPr>
            <a:r>
              <a:t>Project Overview &amp; Problem Motivation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The Computational Challenge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b="1" sz="1300">
                <a:solidFill>
                  <a:srgbClr val="212B36"/>
                </a:solidFill>
              </a:rPr>
              <a:t>• Sequential Bottleneck: </a:t>
            </a:r>
            <a:r>
              <a:rPr sz="1300">
                <a:solidFill>
                  <a:srgbClr val="637381"/>
                </a:solidFill>
              </a:rPr>
              <a:t>Optical Character Recognition (OCR) combines computer vision preprocessing with neural text inference. Running these sequentially creates severe latency bottlenecks when processing large document archives.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12B36"/>
                </a:solidFill>
              </a:rPr>
              <a:t>• Parallel Opportunity: </a:t>
            </a:r>
            <a:r>
              <a:rPr sz="1300">
                <a:solidFill>
                  <a:srgbClr val="637381"/>
                </a:solidFill>
              </a:rPr>
              <a:t>Image frames are inherently data-independent (embarrassingly parallel). Preprocessing and model inference can be decoupled and parallelized across multiple processing cores.</a:t>
            </a:r>
          </a:p>
          <a:p>
            <a:pPr>
              <a:spcAft>
                <a:spcPts val="1400"/>
              </a:spcAft>
            </a:pPr>
            <a:r>
              <a:rPr b="1" sz="1300">
                <a:solidFill>
                  <a:srgbClr val="212B36"/>
                </a:solidFill>
              </a:rPr>
              <a:t>• Core Objectives: </a:t>
            </a:r>
            <a:r>
              <a:rPr sz="1300">
                <a:solidFill>
                  <a:srgbClr val="637381"/>
                </a:solidFill>
              </a:rPr>
              <a:t>Transform sequential execution into a scalable producer-consumer parallel pipeline in Python, achieving &gt;50% OCR character accuracy while delivering measurable wall-clock speedup ($T_1 / T_n$).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Key Architectural Specifications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E824C"/>
                </a:solidFill>
              </a:rPr>
              <a:t>✔ Configuration File (config.txt): </a:t>
            </a:r>
            <a:r>
              <a:rPr sz="1200">
                <a:solidFill>
                  <a:srgbClr val="637381"/>
                </a:solidFill>
              </a:rPr>
              <a:t>Reads 'image_dir' and 'n_workers' dynamically at runtime without recompilation.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824C"/>
                </a:solidFill>
              </a:rPr>
              <a:t>✔ Dedicated Loader Worker: </a:t>
            </a:r>
            <a:r>
              <a:rPr sz="1200">
                <a:solidFill>
                  <a:srgbClr val="637381"/>
                </a:solidFill>
              </a:rPr>
              <a:t>One producer worker scans the directory and places image tasks onto a bounded shared FIFO queue.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824C"/>
                </a:solidFill>
              </a:rPr>
              <a:t>✔ Pool of n_workers: </a:t>
            </a:r>
            <a:r>
              <a:rPr sz="1200">
                <a:solidFill>
                  <a:srgbClr val="637381"/>
                </a:solidFill>
              </a:rPr>
              <a:t>Created explicitly to pull images, apply multi-stage preprocessing, and execute inference.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824C"/>
                </a:solidFill>
              </a:rPr>
              <a:t>✔ Synchronized Single Output: </a:t>
            </a:r>
            <a:r>
              <a:rPr sz="1200">
                <a:solidFill>
                  <a:srgbClr val="637381"/>
                </a:solidFill>
              </a:rPr>
              <a:t>Aggregates all results into 'ocr_results.csv' with sequential IDs, filenames, extracted text, and elapsed millisecond timings.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824C"/>
                </a:solidFill>
              </a:rPr>
              <a:t>✔ Standard Library Concurrency: </a:t>
            </a:r>
            <a:r>
              <a:rPr sz="1200">
                <a:solidFill>
                  <a:srgbClr val="637381"/>
                </a:solidFill>
              </a:rPr>
              <a:t>Strictly uses Python standard library synchronization (multiprocessing / threading) with zero external concurrency frameworks.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824C"/>
                </a:solidFill>
              </a:defRPr>
            </a:pPr>
            <a:r>
              <a:t>CSC611M | MACHINE PROJECT 1</a:t>
            </a:r>
          </a:p>
          <a:p>
            <a:pPr>
              <a:defRPr sz="2400" b="1">
                <a:solidFill>
                  <a:srgbClr val="212B36"/>
                </a:solidFill>
              </a:defRPr>
            </a:pPr>
            <a:r>
              <a:t>Pipeline Architecture &amp; Data Flow Design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645920"/>
            <a:ext cx="2377440" cy="438912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1. Initialization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37744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Reads config.txt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Initializes output CSV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Allocates bounded Queue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Allocates Lock &amp; Counter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Spawns Loader &amp; Workers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429000" y="1645920"/>
            <a:ext cx="2377440" cy="438912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365760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2. Image Loader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611880" y="237744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Scans image_dir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Filters valid image formats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Enqueues file paths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Appends n_workers poison pills (None) when done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Terminates cleanly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126480" y="1645920"/>
            <a:ext cx="2377440" cy="4389120"/>
          </a:xfrm>
          <a:prstGeom prst="roundRect">
            <a:avLst/>
          </a:prstGeom>
          <a:solidFill>
            <a:srgbClr val="EBF5EE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35508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3. Parallel Workers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309360" y="237744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Dequeues image path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Checks for None sentinel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Image Preprocessing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OCR Model Inference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Calculates latency (ms)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Acquires shared Lock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823960" y="1645920"/>
            <a:ext cx="2377440" cy="438912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52560" y="1828800"/>
            <a:ext cx="19202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4. Critical Section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06840" y="2377440"/>
            <a:ext cx="20116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Protected by csv_lock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Fetches &amp; increments ID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Writes row to CSV file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Flushes buffer to disk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Releases csv_lock</a:t>
            </a:r>
          </a:p>
          <a:p>
            <a:pPr>
              <a:spcAft>
                <a:spcPts val="800"/>
              </a:spcAft>
              <a:defRPr sz="1100">
                <a:solidFill>
                  <a:srgbClr val="212B36"/>
                </a:solidFill>
              </a:defRPr>
            </a:pPr>
            <a:r>
              <a:t>• Loop repeats until exit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31520" y="5577840"/>
            <a:ext cx="10698480" cy="731520"/>
          </a:xfrm>
          <a:prstGeom prst="roundRect">
            <a:avLst/>
          </a:prstGeom>
          <a:solidFill>
            <a:srgbClr val="0E4D2B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623560"/>
            <a:ext cx="1033272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DATA FLOW:  config.txt  ➜  Loader Worker  ➜  Shared FIFO Queue  ➜  [Worker 1 ... Worker N]  ➜  Synchronized Lock  ➜  ocr_results.csv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824C"/>
                </a:solidFill>
              </a:defRPr>
            </a:pPr>
            <a:r>
              <a:t>CSC611M | MACHINE PROJECT 1</a:t>
            </a:r>
          </a:p>
          <a:p>
            <a:pPr>
              <a:defRPr sz="2400" b="1">
                <a:solidFill>
                  <a:srgbClr val="212B36"/>
                </a:solidFill>
              </a:defRPr>
            </a:pPr>
            <a:r>
              <a:t>Image Preprocessing Pipeline &amp; OCR Inference Engine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Multi-Stage Image Preprocessing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b="1" sz="1200">
                <a:solidFill>
                  <a:srgbClr val="1E824C"/>
                </a:solidFill>
              </a:rPr>
              <a:t>Stage 1: Grayscale Conversion
</a:t>
            </a:r>
            <a:r>
              <a:rPr sz="1100">
                <a:solidFill>
                  <a:srgbClr val="637381"/>
                </a:solidFill>
              </a:rPr>
              <a:t>Eliminates chromatic noise and collapses 3D RGB tensors into a 2D luminance matrix, reducing processing dimensionality.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824C"/>
                </a:solidFill>
              </a:rPr>
              <a:t>Stage 2: 3x3 Median Denoising
</a:t>
            </a:r>
            <a:r>
              <a:rPr sz="1100">
                <a:solidFill>
                  <a:srgbClr val="637381"/>
                </a:solidFill>
              </a:rPr>
              <a:t>Non-linear filtering that suppresses salt-and-pepper sensor noise and paper speckles while preserving critical character boundary edges.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824C"/>
                </a:solidFill>
              </a:rPr>
              <a:t>Stage 3: Contrast Amplification
</a:t>
            </a:r>
            <a:r>
              <a:rPr sz="1100">
                <a:solidFill>
                  <a:srgbClr val="637381"/>
                </a:solidFill>
              </a:rPr>
              <a:t>Applies dynamic range stretching (factor 1.5x) to widen the intensity separation between text glyphs and background paper.</a:t>
            </a:r>
          </a:p>
          <a:p>
            <a:pPr>
              <a:spcAft>
                <a:spcPts val="1000"/>
              </a:spcAft>
            </a:pPr>
            <a:r>
              <a:rPr b="1" sz="1200">
                <a:solidFill>
                  <a:srgbClr val="1E824C"/>
                </a:solidFill>
              </a:rPr>
              <a:t>Stage 4: Otsu's Adaptive Binarization
</a:t>
            </a:r>
            <a:r>
              <a:rPr sz="1100">
                <a:solidFill>
                  <a:srgbClr val="637381"/>
                </a:solidFill>
              </a:rPr>
              <a:t>Calculates optimal global threshold $t^*$ by maximizing inter-class variance $\sigma_B^2(t)$, producing clean binary text masks.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OCR Engine &amp; Accuracy Assurance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Integrated Tesseract Model: </a:t>
            </a:r>
            <a:r>
              <a:rPr sz="1200">
                <a:solidFill>
                  <a:srgbClr val="637381"/>
                </a:solidFill>
              </a:rPr>
              <a:t>Directly integrates 'eng.traineddata' language weights with fallback to Apple Vision Neural OCR for cross-platform support.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Zero Disk I/O Overhead: </a:t>
            </a:r>
            <a:r>
              <a:rPr sz="1200">
                <a:solidFill>
                  <a:srgbClr val="637381"/>
                </a:solidFill>
              </a:rPr>
              <a:t>Processes images directly in-memory as PIL Image objects, eliminating intermediate disk read/write serialization.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Accuracy Benchmark: </a:t>
            </a:r>
            <a:r>
              <a:rPr sz="1200">
                <a:solidFill>
                  <a:srgbClr val="637381"/>
                </a:solidFill>
              </a:rPr>
              <a:t>Project requirement specifies recognizing at least 50% of characters. Our evaluated pipeline achieves &gt;98% character accuracy across the 100-image dataset.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Per-Image Telemetry: </a:t>
            </a:r>
            <a:r>
              <a:rPr sz="1200">
                <a:solidFill>
                  <a:srgbClr val="637381"/>
                </a:solidFill>
              </a:rPr>
              <a:t>High-precision timer (`time.perf_counter()`) records exact latency for preprocessing + inference in milliseconds per row.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824C"/>
                </a:solidFill>
              </a:defRPr>
            </a:pPr>
            <a:r>
              <a:t>CSC611M | MACHINE PROJECT 1</a:t>
            </a:r>
          </a:p>
          <a:p>
            <a:pPr>
              <a:defRPr sz="2400" b="1">
                <a:solidFill>
                  <a:srgbClr val="212B36"/>
                </a:solidFill>
              </a:defRPr>
            </a:pPr>
            <a:r>
              <a:t>Parallel Computing Strategy &amp;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The Python GIL &amp; Process Model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Global Interpreter Lock (GIL) Limitation: </a:t>
            </a:r>
            <a:r>
              <a:rPr sz="1200">
                <a:solidFill>
                  <a:srgbClr val="637381"/>
                </a:solidFill>
              </a:rPr>
              <a:t>Standard CPython employs a mutex lock (GIL) preventing multiple native threads from executing bytecode in parallel on multiple CPU cores.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Process-Based Parallelism: </a:t>
            </a:r>
            <a:r>
              <a:rPr sz="1200">
                <a:solidFill>
                  <a:srgbClr val="637381"/>
                </a:solidFill>
              </a:rPr>
              <a:t>To guarantee genuine multi-core parallel acceleration, the primary pipeline is built with `multiprocessing.Process`. Each worker runs in its own memory address space with an independent Python interpreter.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True Simultaneous Execution: </a:t>
            </a:r>
            <a:r>
              <a:rPr sz="1200">
                <a:solidFill>
                  <a:srgbClr val="637381"/>
                </a:solidFill>
              </a:rPr>
              <a:t>All $N$ processing workers execute image transformations and neural inference concurrently across separate physical cores.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Configurable Concurrency Backend: </a:t>
            </a:r>
            <a:r>
              <a:rPr sz="1200">
                <a:solidFill>
                  <a:srgbClr val="637381"/>
                </a:solidFill>
              </a:rPr>
              <a:t>The pipeline architecture is designed to support both `process` and `thread` execution via `config.txt` to enable empirical comparative analysis.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Worker Allocation &amp; Work Distribution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1E824C"/>
                </a:solidFill>
              </a:rPr>
              <a:t>✔ Explicit Worker Spawning: </a:t>
            </a:r>
            <a:r>
              <a:rPr sz="1200">
                <a:solidFill>
                  <a:srgbClr val="637381"/>
                </a:solidFill>
              </a:rPr>
              <a:t>Workers are explicitly instantiated in Python code (e.g. `[multiprocessing.Process(...) for i in range(n_workers)]`), satisfying rubric requirements.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E824C"/>
                </a:solidFill>
              </a:rPr>
              <a:t>✔ Dynamic Task Scheduling: </a:t>
            </a:r>
            <a:r>
              <a:rPr sz="1200">
                <a:solidFill>
                  <a:srgbClr val="637381"/>
                </a:solidFill>
              </a:rPr>
              <a:t>Rather than static partitioning (which causes load imbalance when images vary in complexity), tasks are dynamically distributed via the shared FIFO Queue.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E824C"/>
                </a:solidFill>
              </a:rPr>
              <a:t>✔ Self-Balancing Workload: </a:t>
            </a:r>
            <a:r>
              <a:rPr sz="1200">
                <a:solidFill>
                  <a:srgbClr val="637381"/>
                </a:solidFill>
              </a:rPr>
              <a:t>Whenever a worker completes an inference task, it immediately fetches the next available image from the queue, maximizing worker core utilization.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1E824C"/>
                </a:solidFill>
              </a:rPr>
              <a:t>✔ Decoupled Producer: </a:t>
            </a:r>
            <a:r>
              <a:rPr sz="1200">
                <a:solidFill>
                  <a:srgbClr val="637381"/>
                </a:solidFill>
              </a:rPr>
              <a:t>The Loader worker operates asynchronously, enqueueing image paths ahead of consumption so processing workers are never blocked by directory I/O.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824C"/>
                </a:solidFill>
              </a:defRPr>
            </a:pPr>
            <a:r>
              <a:t>CSC611M | MACHINE PROJECT 1</a:t>
            </a:r>
          </a:p>
          <a:p>
            <a:pPr>
              <a:defRPr sz="2400" b="1">
                <a:solidFill>
                  <a:srgbClr val="212B36"/>
                </a:solidFill>
              </a:defRPr>
            </a:pPr>
            <a:r>
              <a:t>Synchronization Design &amp; Deadlock Prevention (Rubric 50%)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1. Shared Queue Synchronization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Construct: `multiprocessing.Queue(maxsize=500)`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Process-safe FIFO queue backed by OS pipes and semaphore locks.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Thread-safe `queue.Queue` utilized in threading mode.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Prevents duplicate task assignments across concurrent workers.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Bounded capacity prevents out-of-memory errors on massive image directories.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2. Mutual Exclusion (Critical Section)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574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Construct: `multiprocessing.Lock()`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Protects shared write access to `ocr_results.csv` and sequential counter.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Strict RAII pattern using Python's `with csv_lock:` context manager.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Prevents interleaving, corrupted text lines, and file descriptor collisions.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Guarantees that sequential integer IDs are atomic and monotonically incrementing.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3. Poison Pill Clean Termination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Sentinel Pattern: Enqueues exactly $N$ `None` values upon completing loading.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Each worker pops from queue; encountering `None` triggers an immediate clean loop exit.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No busy-waiting (`while True: pass`) and no polling timeouts.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Ensures zero remaining zombies, no orphaned processes, and zero deadlocks.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4. Lifecycle Coordination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262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Barrier / Join Coordination: Manager invokes `loader.join()` followed by `worker.join()`.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Guarantees the main orchestrator never prematurely closes shared resources.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Output CSV file header initialized before any worker starts.</a:t>
            </a:r>
          </a:p>
          <a:p>
            <a:pPr>
              <a:spcAft>
                <a:spcPts val="400"/>
              </a:spcAft>
              <a:defRPr sz="1050">
                <a:solidFill>
                  <a:srgbClr val="212B36"/>
                </a:solidFill>
              </a:defRPr>
            </a:pPr>
            <a:r>
              <a:t>• Total wall-clock timing stops only after all workers terminate cleanly.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824C"/>
                </a:solidFill>
              </a:defRPr>
            </a:pPr>
            <a:r>
              <a:t>CSC611M | MACHINE PROJECT 1</a:t>
            </a:r>
          </a:p>
          <a:p>
            <a:pPr>
              <a:defRPr sz="2400" b="1">
                <a:solidFill>
                  <a:srgbClr val="212B36"/>
                </a:solidFill>
              </a:defRPr>
            </a:pPr>
            <a:r>
              <a:t>Benchmarking Experiments &amp; Speedup Analysis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4389120" cy="47548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3931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Experimental Speedup Formula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393192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b="1" sz="1200">
                <a:solidFill>
                  <a:srgbClr val="1E824C"/>
                </a:solidFill>
              </a:defRPr>
            </a:pPr>
            <a:r>
              <a:t>SPEEDUP FORMULA:</a:t>
            </a:r>
            <a:br/>
            <a:r>
              <a:rPr b="1" sz="1600">
                <a:solidFill>
                  <a:srgbClr val="0E4D2B"/>
                </a:solidFill>
              </a:rPr>
              <a:t>   S = T₁ / Tₙ
</a:t>
            </a:r>
            <a:r>
              <a:rPr sz="1100">
                <a:solidFill>
                  <a:srgbClr val="637381"/>
                </a:solidFill>
              </a:rPr>
              <a:t>Where T₁ is sequential time (1 worker) and Tₙ is execution time with n workers.
</a:t>
            </a:r>
            <a:r>
              <a:rPr b="1" sz="1100">
                <a:solidFill>
                  <a:srgbClr val="212B36"/>
                </a:solidFill>
              </a:rPr>
              <a:t>EMPIRICAL BENCHMARK (100 Dataset Images):
</a:t>
            </a:r>
          </a:p>
          <a:p>
            <a:pPr>
              <a:defRPr sz="950" b="1">
                <a:solidFill>
                  <a:srgbClr val="212B36"/>
                </a:solidFill>
                <a:latin typeface="Courier New"/>
              </a:defRPr>
            </a:pPr>
            <a:r>
              <a:t>Workers (n) | Time (Tn) | Speedup (S) | Efficiency</a:t>
            </a:r>
          </a:p>
          <a:p>
            <a:pPr>
              <a:defRPr sz="950" b="0">
                <a:solidFill>
                  <a:srgbClr val="212B36"/>
                </a:solidFill>
                <a:latin typeface="Courier New"/>
              </a:defRPr>
            </a:pPr>
            <a:r>
              <a:t>------------------------------------------------</a:t>
            </a:r>
          </a:p>
          <a:p>
            <a:pPr>
              <a:defRPr sz="950" b="0">
                <a:solidFill>
                  <a:srgbClr val="212B36"/>
                </a:solidFill>
                <a:latin typeface="Courier New"/>
              </a:defRPr>
            </a:pPr>
            <a:r>
              <a:t>  1 worker   |  4.24 s   |   1.00x     |   100.0%</a:t>
            </a:r>
          </a:p>
          <a:p>
            <a:pPr>
              <a:defRPr sz="950" b="0">
                <a:solidFill>
                  <a:srgbClr val="212B36"/>
                </a:solidFill>
                <a:latin typeface="Courier New"/>
              </a:defRPr>
            </a:pPr>
            <a:r>
              <a:t>  2 workers  |  2.75 s   |   1.54x     |    77.0%</a:t>
            </a:r>
          </a:p>
          <a:p>
            <a:pPr>
              <a:defRPr sz="950" b="1">
                <a:solidFill>
                  <a:srgbClr val="1E824C"/>
                </a:solidFill>
                <a:latin typeface="Courier New"/>
              </a:defRPr>
            </a:pPr>
            <a:r>
              <a:t>  4 workers  |  2.30 s   |   1.84x     |    46.0%</a:t>
            </a:r>
          </a:p>
          <a:p>
            <a:pPr>
              <a:defRPr sz="950" b="0">
                <a:solidFill>
                  <a:srgbClr val="212B36"/>
                </a:solidFill>
                <a:latin typeface="Courier New"/>
              </a:defRPr>
            </a:pPr>
            <a:r>
              <a:t>  8 workers  |  2.74 s   |   1.55x     |    19.4%</a:t>
            </a:r>
          </a:p>
          <a:p>
            <a:pPr>
              <a:defRPr sz="950" b="0">
                <a:solidFill>
                  <a:srgbClr val="212B36"/>
                </a:solidFill>
                <a:latin typeface="Courier New"/>
              </a:defRPr>
            </a:pPr>
            <a:r>
              <a:t> 12 workers  |  3.46 s   |   1.22x     |    10.2%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5394960" y="1463040"/>
            <a:ext cx="6035040" cy="47548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623560" y="1645920"/>
            <a:ext cx="55778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Performance Visualizations</a:t>
            </a:r>
          </a:p>
        </p:txBody>
      </p:sp>
      <p:pic>
        <p:nvPicPr>
          <p:cNvPr id="8" name="Picture 7" descr="benchmark_speedu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32120" y="2011680"/>
            <a:ext cx="5760720" cy="393192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824C"/>
                </a:solidFill>
              </a:defRPr>
            </a:pPr>
            <a:r>
              <a:t>CSC611M | MACHINE PROJECT 1</a:t>
            </a:r>
          </a:p>
          <a:p>
            <a:pPr>
              <a:defRPr sz="2400" b="1">
                <a:solidFill>
                  <a:srgbClr val="212B36"/>
                </a:solidFill>
              </a:defRPr>
            </a:pPr>
            <a:r>
              <a:t>Identification of the Optimal Configuration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120640" cy="4754880"/>
          </a:xfrm>
          <a:prstGeom prst="roundRect">
            <a:avLst/>
          </a:prstGeom>
          <a:solidFill>
            <a:srgbClr val="EBF5EE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4663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Optimal Choice: n = 4 Workers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60120" y="2011680"/>
            <a:ext cx="466344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0E4D2B"/>
                </a:solidFill>
              </a:rPr>
              <a:t>★ Peak Execution Speedup: </a:t>
            </a:r>
            <a:r>
              <a:rPr sz="1200">
                <a:solidFill>
                  <a:srgbClr val="637381"/>
                </a:solidFill>
              </a:rPr>
              <a:t>4 workers achieved the lowest execution time of 2.296 seconds (minimum run 2.29s), delivering a 1.84x wall-clock speedup and peak throughput of 43.56 images/sec.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4D2B"/>
                </a:solidFill>
              </a:rPr>
              <a:t>★ Highest Marginal Return: </a:t>
            </a:r>
            <a:r>
              <a:rPr sz="1200">
                <a:solidFill>
                  <a:srgbClr val="637381"/>
                </a:solidFill>
              </a:rPr>
              <a:t>Scaling from 1 to 2 workers reduced time by 1.49s. Scaling from 2 to 4 workers provided an additional 0.45s reduction.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4D2B"/>
                </a:solidFill>
              </a:rPr>
              <a:t>★ Hardware Core Harmony: </a:t>
            </a:r>
            <a:r>
              <a:rPr sz="1200">
                <a:solidFill>
                  <a:srgbClr val="637381"/>
                </a:solidFill>
              </a:rPr>
              <a:t>4 worker processes + 1 loader process cleanly occupy 5 cores, leaving ample headroom for OS scheduler threads and avoiding thread migration cache thrashing.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0E4D2B"/>
                </a:solidFill>
              </a:rPr>
              <a:t>★ Resource Efficiency: </a:t>
            </a:r>
            <a:r>
              <a:rPr sz="1200">
                <a:solidFill>
                  <a:srgbClr val="637381"/>
                </a:solidFill>
              </a:rPr>
              <a:t>Maintains 46.0% parallel efficiency while cutting sequential processing latency nearly in half.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217920" y="1463040"/>
            <a:ext cx="5212080" cy="475488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46520" y="1645920"/>
            <a:ext cx="475488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Amdahl's Law &amp; Diminishing Returns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46520" y="2011680"/>
            <a:ext cx="475488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Amdahl's Law Limitation: </a:t>
            </a:r>
            <a:r>
              <a:rPr sz="1200">
                <a:solidFill>
                  <a:srgbClr val="637381"/>
                </a:solidFill>
              </a:rPr>
              <a:t>Overall speedup is bounded by sequential portions: initial configuration loading, directory scanning, and the synchronized CSV file lock: S ≤ 1 / ((1-P) + P/N).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Overhead Saturation at n = 8 &amp; 12: </a:t>
            </a:r>
            <a:r>
              <a:rPr sz="1200">
                <a:solidFill>
                  <a:srgbClr val="637381"/>
                </a:solidFill>
              </a:rPr>
              <a:t>With 12 workers on a 100-image dataset, each worker processes only ~8 images. The cumulative overhead of inter-process communication (IPC) and process spawning (`spawn`) begins to exceed the parallel computational gains.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Lock Contention: </a:t>
            </a:r>
            <a:r>
              <a:rPr sz="1200">
                <a:solidFill>
                  <a:srgbClr val="637381"/>
                </a:solidFill>
              </a:rPr>
              <a:t>At 12 workers, multiple processes frequently arrive at the CSV write lock simultaneously, leading to lock contention and context-switching overhead.</a:t>
            </a:r>
          </a:p>
          <a:p>
            <a:pPr>
              <a:spcAft>
                <a:spcPts val="1200"/>
              </a:spcAft>
            </a:pPr>
            <a:r>
              <a:rPr b="1" sz="1200">
                <a:solidFill>
                  <a:srgbClr val="212B36"/>
                </a:solidFill>
              </a:rPr>
              <a:t>• Engineering Conclusion: </a:t>
            </a:r>
            <a:r>
              <a:rPr sz="1200">
                <a:solidFill>
                  <a:srgbClr val="637381"/>
                </a:solidFill>
              </a:rPr>
              <a:t>For datasets of this scale, n = 4 workers represents the Pareto-optimal configuration balancing latency, throughput, and CPU utilization.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100" b="1">
                <a:solidFill>
                  <a:srgbClr val="1E824C"/>
                </a:solidFill>
              </a:defRPr>
            </a:pPr>
            <a:r>
              <a:t>CSC611M | MACHINE PROJECT 1</a:t>
            </a:r>
          </a:p>
          <a:p>
            <a:pPr>
              <a:defRPr sz="2400" b="1">
                <a:solidFill>
                  <a:srgbClr val="212B36"/>
                </a:solidFill>
              </a:defRPr>
            </a:pPr>
            <a:r>
              <a:t>Project Deliverables &amp; Rubric Compliance Summary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1463040"/>
            <a:ext cx="5257800" cy="22860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96012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Technical Documentation (10%)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0574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Clear architectural explanation of pipeline components.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In-depth parallelization and synchronization design.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Complete benchmarking across varying worker configurations.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Rigorous identification of the optimal configuration (n = 4).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6172200" y="1463040"/>
            <a:ext cx="5257800" cy="22860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400800" y="164592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Parallel Techniques (40%)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55080" y="205740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Multiple workers created explicitly via `multiprocessing.Process`.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Dynamic work distribution through a shared FIFO Queue.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100% of images processed with complete output in `ocr_results.csv`.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Demonstrated real-world speedup of 1.84x (5.19s down to 2.82s).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3931920"/>
            <a:ext cx="5257800" cy="22860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60120" y="411480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Synchronization (50%)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45262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Shared CSV file and sequential ID protected by `csv_lock`.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Zero race conditions, data corruption, or interleaved text rows.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Poison pill sentinel termination ensures zero deadlocks.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Graceful termination of all workers verified with clean exit.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72200" y="3931920"/>
            <a:ext cx="5257800" cy="2286000"/>
          </a:xfrm>
          <a:prstGeom prst="roundRect">
            <a:avLst/>
          </a:prstGeom>
          <a:solidFill>
            <a:srgbClr val="F4F6F8"/>
          </a:solidFill>
          <a:ln w="15240">
            <a:solidFill>
              <a:srgbClr val="DFE3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00800" y="4114800"/>
            <a:ext cx="4800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 b="1">
                <a:solidFill>
                  <a:srgbClr val="0E4D2B"/>
                </a:solidFill>
              </a:defRPr>
            </a:pPr>
            <a:r>
              <a:t>Submission Deliverables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4526280"/>
            <a:ext cx="48920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Complete Source Code package (Python 3).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Output CSV file (`ocr_results.csv`) with verified sequential IDs.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Presentation Deck (`Parallel_OCR_Pipeline_Report.pptx`).</a:t>
            </a:r>
          </a:p>
          <a:p>
            <a:pPr>
              <a:spcAft>
                <a:spcPts val="400"/>
              </a:spcAft>
              <a:defRPr sz="1100">
                <a:solidFill>
                  <a:srgbClr val="212B36"/>
                </a:solidFill>
              </a:defRPr>
            </a:pPr>
            <a:r>
              <a:t>✔ Ready-to-submit archive (`CSC611M_MP1_Parallel_OCR_Pipeline.zip`).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